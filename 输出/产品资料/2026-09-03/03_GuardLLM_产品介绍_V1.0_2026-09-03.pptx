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0893a4c6c4cde" /><Relationship Type="http://schemas.openxmlformats.org/officeDocument/2006/relationships/extended-properties" Target="/docProps/app.xml" Id="Rfe93c065ab79486f" /><Relationship Type="http://schemas.openxmlformats.org/officeDocument/2006/relationships/officeDocument" Target="/ppt/presentation.xml" Id="Rbf26b44964cb42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c85442e814948"/>
  </p:sldMasterIdLst>
  <p:notesMasterIdLst>
    <p:notesMasterId xmlns:r="http://schemas.openxmlformats.org/officeDocument/2006/relationships" r:id="Rdc19dcceb7894620"/>
  </p:notesMasterIdLst>
  <p:sldIdLst>
    <p:sldId xmlns:r="http://schemas.openxmlformats.org/officeDocument/2006/relationships" id="256" r:id="Rdb42c947ce6c474b"/>
    <p:sldId xmlns:r="http://schemas.openxmlformats.org/officeDocument/2006/relationships" id="257" r:id="R58759e66f7b34691"/>
    <p:sldId xmlns:r="http://schemas.openxmlformats.org/officeDocument/2006/relationships" id="258" r:id="R2e8549552c724116"/>
    <p:sldId xmlns:r="http://schemas.openxmlformats.org/officeDocument/2006/relationships" id="259" r:id="R9b4846499333430c"/>
    <p:sldId xmlns:r="http://schemas.openxmlformats.org/officeDocument/2006/relationships" id="260" r:id="R3ee920b9bfd8478b"/>
    <p:sldId xmlns:r="http://schemas.openxmlformats.org/officeDocument/2006/relationships" id="261" r:id="Ra7aa3cbde6bd497f"/>
    <p:sldId xmlns:r="http://schemas.openxmlformats.org/officeDocument/2006/relationships" id="262" r:id="R6751f120898049cf"/>
    <p:sldId xmlns:r="http://schemas.openxmlformats.org/officeDocument/2006/relationships" id="263" r:id="Rb8a8a73572f14904"/>
    <p:sldId xmlns:r="http://schemas.openxmlformats.org/officeDocument/2006/relationships" id="264" r:id="Rd1fc9174574c475d"/>
    <p:sldId xmlns:r="http://schemas.openxmlformats.org/officeDocument/2006/relationships" id="265" r:id="R308d8d443fbf4073"/>
    <p:sldId xmlns:r="http://schemas.openxmlformats.org/officeDocument/2006/relationships" id="266" r:id="Raa5f4ff398c94073"/>
    <p:sldId xmlns:r="http://schemas.openxmlformats.org/officeDocument/2006/relationships" id="267" r:id="Rb3c716bc91994492"/>
    <p:sldId xmlns:r="http://schemas.openxmlformats.org/officeDocument/2006/relationships" id="268" r:id="R05eae3e170eb4467"/>
    <p:sldId xmlns:r="http://schemas.openxmlformats.org/officeDocument/2006/relationships" id="269" r:id="Rdefdb3b5e93b4b0a"/>
    <p:sldId xmlns:r="http://schemas.openxmlformats.org/officeDocument/2006/relationships" id="270" r:id="R5337de43608e4bc5"/>
    <p:sldId xmlns:r="http://schemas.openxmlformats.org/officeDocument/2006/relationships" id="271" r:id="Rdabca5cc553742ac"/>
    <p:sldId xmlns:r="http://schemas.openxmlformats.org/officeDocument/2006/relationships" id="272" r:id="R572cf165b6914c57"/>
    <p:sldId xmlns:r="http://schemas.openxmlformats.org/officeDocument/2006/relationships" id="273" r:id="Re3869b40cdf143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7adbe1e6d4ef1" /><Relationship Type="http://schemas.openxmlformats.org/officeDocument/2006/relationships/slideMaster" Target="/ppt/slideMasters/slideMaster1.xml" Id="R8c5c85442e814948" /><Relationship Type="http://schemas.openxmlformats.org/officeDocument/2006/relationships/notesMaster" Target="/ppt/notesMasters/notesMaster1.xml" Id="Rdc19dcceb7894620" /><Relationship Type="http://schemas.openxmlformats.org/officeDocument/2006/relationships/presProps" Target="/ppt/presProps.xml" Id="R177a3b09a457465b" /><Relationship Type="http://schemas.openxmlformats.org/officeDocument/2006/relationships/tableStyles" Target="/ppt/tableStyles.xml" Id="R735bd24dcd084b2c" /><Relationship Type="http://schemas.openxmlformats.org/officeDocument/2006/relationships/slide" Target="/ppt/slides/slide1.xml" Id="Rdb42c947ce6c474b" /><Relationship Type="http://schemas.openxmlformats.org/officeDocument/2006/relationships/slide" Target="/ppt/slides/slide2.xml" Id="R58759e66f7b34691" /><Relationship Type="http://schemas.openxmlformats.org/officeDocument/2006/relationships/slide" Target="/ppt/slides/slide3.xml" Id="R2e8549552c724116" /><Relationship Type="http://schemas.openxmlformats.org/officeDocument/2006/relationships/slide" Target="/ppt/slides/slide4.xml" Id="R9b4846499333430c" /><Relationship Type="http://schemas.openxmlformats.org/officeDocument/2006/relationships/slide" Target="/ppt/slides/slide5.xml" Id="R3ee920b9bfd8478b" /><Relationship Type="http://schemas.openxmlformats.org/officeDocument/2006/relationships/slide" Target="/ppt/slides/slide6.xml" Id="Ra7aa3cbde6bd497f" /><Relationship Type="http://schemas.openxmlformats.org/officeDocument/2006/relationships/slide" Target="/ppt/slides/slide7.xml" Id="R6751f120898049cf" /><Relationship Type="http://schemas.openxmlformats.org/officeDocument/2006/relationships/slide" Target="/ppt/slides/slide8.xml" Id="Rb8a8a73572f14904" /><Relationship Type="http://schemas.openxmlformats.org/officeDocument/2006/relationships/slide" Target="/ppt/slides/slide9.xml" Id="Rd1fc9174574c475d" /><Relationship Type="http://schemas.openxmlformats.org/officeDocument/2006/relationships/slide" Target="/ppt/slides/slide10.xml" Id="R308d8d443fbf4073" /><Relationship Type="http://schemas.openxmlformats.org/officeDocument/2006/relationships/slide" Target="/ppt/slides/slide11.xml" Id="Raa5f4ff398c94073" /><Relationship Type="http://schemas.openxmlformats.org/officeDocument/2006/relationships/slide" Target="/ppt/slides/slide12.xml" Id="Rb3c716bc91994492" /><Relationship Type="http://schemas.openxmlformats.org/officeDocument/2006/relationships/slide" Target="/ppt/slides/slide13.xml" Id="R05eae3e170eb4467" /><Relationship Type="http://schemas.openxmlformats.org/officeDocument/2006/relationships/slide" Target="/ppt/slides/slide14.xml" Id="Rdefdb3b5e93b4b0a" /><Relationship Type="http://schemas.openxmlformats.org/officeDocument/2006/relationships/slide" Target="/ppt/slides/slide15.xml" Id="R5337de43608e4bc5" /><Relationship Type="http://schemas.openxmlformats.org/officeDocument/2006/relationships/slide" Target="/ppt/slides/slide16.xml" Id="Rdabca5cc553742ac" /><Relationship Type="http://schemas.openxmlformats.org/officeDocument/2006/relationships/slide" Target="/ppt/slides/slide17.xml" Id="R572cf165b6914c57" /><Relationship Type="http://schemas.openxmlformats.org/officeDocument/2006/relationships/slide" Target="/ppt/slides/slide18.xml" Id="Re3869b40cdf143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9301c51bd0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aa871170f42ff" /><Relationship Type="http://schemas.openxmlformats.org/officeDocument/2006/relationships/notesMaster" Target="/ppt/notesMasters/notesMaster1.xml" Id="R05294dd4211f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a953edaf564d64" /><Relationship Type="http://schemas.openxmlformats.org/officeDocument/2006/relationships/notesMaster" Target="/ppt/notesMasters/notesMaster1.xml" Id="Ra09783109051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a2c99ad1a34411" /><Relationship Type="http://schemas.openxmlformats.org/officeDocument/2006/relationships/notesMaster" Target="/ppt/notesMasters/notesMaster1.xml" Id="R3bc7887f4c45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ba4dec3e5d4fbd" /><Relationship Type="http://schemas.openxmlformats.org/officeDocument/2006/relationships/notesMaster" Target="/ppt/notesMasters/notesMaster1.xml" Id="Rf89d4eb8a4fa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4b59ae6e1b4904" /><Relationship Type="http://schemas.openxmlformats.org/officeDocument/2006/relationships/notesMaster" Target="/ppt/notesMasters/notesMaster1.xml" Id="R92c1b83b4a0d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463a10d5d441a8" /><Relationship Type="http://schemas.openxmlformats.org/officeDocument/2006/relationships/notesMaster" Target="/ppt/notesMasters/notesMaster1.xml" Id="R10e1f176012446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c5d92049ce4570" /><Relationship Type="http://schemas.openxmlformats.org/officeDocument/2006/relationships/notesMaster" Target="/ppt/notesMasters/notesMaster1.xml" Id="Rf4e2f3144e30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38b9a974ca4a85" /><Relationship Type="http://schemas.openxmlformats.org/officeDocument/2006/relationships/notesMaster" Target="/ppt/notesMasters/notesMaster1.xml" Id="R62ce9dace47f4c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5b082d76b46f7" /><Relationship Type="http://schemas.openxmlformats.org/officeDocument/2006/relationships/notesMaster" Target="/ppt/notesMasters/notesMaster1.xml" Id="Rd34ef18b55da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daa19a9f1b4613" /><Relationship Type="http://schemas.openxmlformats.org/officeDocument/2006/relationships/notesMaster" Target="/ppt/notesMasters/notesMaster1.xml" Id="R5ded5a92a80d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e8a545e43b4dce" /><Relationship Type="http://schemas.openxmlformats.org/officeDocument/2006/relationships/notesMaster" Target="/ppt/notesMasters/notesMaster1.xml" Id="R0a130976e04046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aff7c252f14ffb" /><Relationship Type="http://schemas.openxmlformats.org/officeDocument/2006/relationships/notesMaster" Target="/ppt/notesMasters/notesMaster1.xml" Id="R64f04091f05d41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8ded1c038245e7" /><Relationship Type="http://schemas.openxmlformats.org/officeDocument/2006/relationships/notesMaster" Target="/ppt/notesMasters/notesMaster1.xml" Id="R3fa463c8a049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faa73874644197" /><Relationship Type="http://schemas.openxmlformats.org/officeDocument/2006/relationships/notesMaster" Target="/ppt/notesMasters/notesMaster1.xml" Id="R2e9cc209c45640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045b9d64d5455f" /><Relationship Type="http://schemas.openxmlformats.org/officeDocument/2006/relationships/notesMaster" Target="/ppt/notesMasters/notesMaster1.xml" Id="R80b9bc766f6445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83b644bff94386" /><Relationship Type="http://schemas.openxmlformats.org/officeDocument/2006/relationships/notesMaster" Target="/ppt/notesMasters/notesMaster1.xml" Id="R1e8494ed326545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3cf3f09ad94413" /><Relationship Type="http://schemas.openxmlformats.org/officeDocument/2006/relationships/notesMaster" Target="/ppt/notesMasters/notesMaster1.xml" Id="R0669f4db6de344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68dd2f69d7431a" /><Relationship Type="http://schemas.openxmlformats.org/officeDocument/2006/relationships/notesMaster" Target="/ppt/notesMasters/notesMaster1.xml" Id="R4542114c99a7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开场只讲一句：GuardLLM 在应用与模型、知识、工具之间建立可证明的安全边界。 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public/hero-illustration.png</a:t>
            </a:r>
          </a:p>
          <a:p xmlns:a="http://schemas.openxmlformats.org/drawingml/2006/main">
            <a:r>
              <a:t>- Repository: acceptance/integrated-plan/scope-manifest.json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src/lib/guard-engine-v2</a:t>
            </a:r>
          </a:p>
          <a:p xmlns:a="http://schemas.openxmlformats.org/drawingml/2006/main">
            <a:r>
              <a:t>- Repository: packages/contracts/model/guard-v1.schema.json</a:t>
            </a:r>
          </a:p>
          <a:p xmlns:a="http://schemas.openxmlformats.org/drawingml/2006/main">
            <a:r>
              <a:t>- Repository: src/lib/context-trust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https://atlas.mitre.org/</a:t>
            </a:r>
          </a:p>
          <a:p xmlns:a="http://schemas.openxmlformats.org/drawingml/2006/main">
            <a:r>
              <a:t>- https://genai.owasp.org/resource/owasp-genai-llm-top-10-2026/</a:t>
            </a:r>
          </a:p>
          <a:p xmlns:a="http://schemas.openxmlformats.org/drawingml/2006/main">
            <a:r>
              <a:t>- https://genai.owasp.org/2025/12/09/owasp-top-10-for-agentic-applications-the-benchmark-for-agentic-security-in-the-age-of-autonomous-ai/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https://www.nist.gov/publications/artificial-intelligence-risk-management-framework-generative-artificial-intelligence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https://csrc.nist.gov/pubs/sp/800/218/a/final</a:t>
            </a:r>
          </a:p>
          <a:p xmlns:a="http://schemas.openxmlformats.org/drawingml/2006/main">
            <a:r>
              <a:t>- https://atlas.mitre.org/</a:t>
            </a:r>
          </a:p>
          <a:p xmlns:a="http://schemas.openxmlformats.org/drawingml/2006/main">
            <a:r>
              <a:t>- https://genai.owasp.org/resource/owasp-genai-llm-top-10-2026/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https://www.nist.gov/programs-projects/concept-note-ai-rmf-profile-trustworthy-ai-critical-infrastructure</a:t>
            </a:r>
          </a:p>
          <a:p xmlns:a="http://schemas.openxmlformats.org/drawingml/2006/main">
            <a:r>
              <a:t>- https://www.gov.cn/gbgl/332a752e6b70437c817e867f627514eb/files/b24690da8e324b49adce5c2f0b918977.pdf</a:t>
            </a:r>
          </a:p>
          <a:p xmlns:a="http://schemas.openxmlformats.org/drawingml/2006/main">
            <a:r>
              <a:t>- Repository: acceptance/generated/coverage-audit.md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src/lib/guard-engine-v2</a:t>
            </a:r>
          </a:p>
          <a:p xmlns:a="http://schemas.openxmlformats.org/drawingml/2006/main">
            <a:r>
              <a:t>- Repository: src/lib/rag</a:t>
            </a:r>
          </a:p>
          <a:p xmlns:a="http://schemas.openxmlformats.org/drawingml/2006/main">
            <a:r>
              <a:t>- Repository: src/lib/tools</a:t>
            </a:r>
          </a:p>
          <a:p xmlns:a="http://schemas.openxmlformats.org/drawingml/2006/main">
            <a:r>
              <a:t>- Repository: src/lib/operations</a:t>
            </a:r>
          </a:p>
          <a:p xmlns:a="http://schemas.openxmlformats.org/drawingml/2006/main">
            <a:r>
              <a:t>- Repository: deploy/helm/guardllm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packages/contracts/model/guard-v1.schema.json</a:t>
            </a:r>
          </a:p>
          <a:p xmlns:a="http://schemas.openxmlformats.org/drawingml/2006/main">
            <a:r>
              <a:t>- Repository: src/lib/context-trust</a:t>
            </a:r>
          </a:p>
          <a:p xmlns:a="http://schemas.openxmlformats.org/drawingml/2006/main">
            <a:r>
              <a:t>- Repository: src/lib/resource-control</a:t>
            </a:r>
          </a:p>
          <a:p xmlns:a="http://schemas.openxmlformats.org/drawingml/2006/main">
            <a:r>
              <a:t>- Repository: src/lib/guard-engine-v2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</a:t>
            </a:r>
          </a:p>
          <a:p xmlns:a="http://schemas.openxmlformats.org/drawingml/2006/main">
            <a:r>
              <a:t>- Repository: src/app/api</a:t>
            </a:r>
          </a:p>
          <a:p xmlns:a="http://schemas.openxmlformats.org/drawingml/2006/main">
            <a:r>
              <a:t>- Repository: src/components/layout/app-layout.tsx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src/lib/guard-engine-v2</a:t>
            </a:r>
          </a:p>
          <a:p xmlns:a="http://schemas.openxmlformats.org/drawingml/2006/main">
            <a:r>
              <a:t>- Repository: src/lib/detection</a:t>
            </a:r>
          </a:p>
          <a:p xmlns:a="http://schemas.openxmlformats.org/drawingml/2006/main">
            <a:r>
              <a:t>- Repository: README.md#16风险维度</a:t>
            </a:r>
          </a:p>
          <a:p xmlns:a="http://schemas.openxmlformats.org/drawingml/2006/main">
            <a:r>
              <a:t>- Repository: tests/guard-engine-v2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src/lib/rag</a:t>
            </a:r>
          </a:p>
          <a:p xmlns:a="http://schemas.openxmlformats.org/drawingml/2006/main">
            <a:r>
              <a:t>- Repository: tests/rag</a:t>
            </a:r>
          </a:p>
          <a:p xmlns:a="http://schemas.openxmlformats.org/drawingml/2006/main">
            <a:r>
              <a:t>- Repository: src/lib/tools</a:t>
            </a:r>
          </a:p>
          <a:p xmlns:a="http://schemas.openxmlformats.org/drawingml/2006/main">
            <a:r>
              <a:t>- Repository: tests/tools/action-firewall.test.ts</a:t>
            </a:r>
          </a:p>
          <a:p xmlns:a="http://schemas.openxmlformats.org/drawingml/2006/main">
            <a:r>
              <a:t>- https://genai.owasp.org/2025/12/09/owasp-top-10-for-agentic-applications-the-benchmark-for-agentic-security-in-the-age-of-autonomous-ai/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src/lib/policy-bundle/lifecycle.ts</a:t>
            </a:r>
          </a:p>
          <a:p xmlns:a="http://schemas.openxmlformats.org/drawingml/2006/main">
            <a:r>
              <a:t>- Repository: src/lib/policy-bundle/service.ts</a:t>
            </a:r>
          </a:p>
          <a:p xmlns:a="http://schemas.openxmlformats.org/drawingml/2006/main">
            <a:r>
              <a:t>- Repository: src/lib/release</a:t>
            </a:r>
          </a:p>
          <a:p xmlns:a="http://schemas.openxmlformats.org/drawingml/2006/main">
            <a:r>
              <a:t>- Repository: tests/policy-bundle</a:t>
            </a:r>
          </a:p>
          <a:p xmlns:a="http://schemas.openxmlformats.org/drawingml/2006/main">
            <a:r>
              <a:t>- Repository: acceptance/README.md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src/lib/operations/security-events.ts</a:t>
            </a:r>
          </a:p>
          <a:p xmlns:a="http://schemas.openxmlformats.org/drawingml/2006/main">
            <a:r>
              <a:t>- Repository: src/lib/incidents/state-machine.ts</a:t>
            </a:r>
          </a:p>
          <a:p xmlns:a="http://schemas.openxmlformats.org/drawingml/2006/main">
            <a:r>
              <a:t>- Repository: src/lib/audit</a:t>
            </a:r>
          </a:p>
          <a:p xmlns:a="http://schemas.openxmlformats.org/drawingml/2006/main">
            <a:r>
              <a:t>- Repository: deploy/observability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输出/产品资料/2026-09-03/04_GuardLLM_产品白皮书_V1.0_2026-09-03.docx</a:t>
            </a:r>
          </a:p>
          <a:p xmlns:a="http://schemas.openxmlformats.org/drawingml/2006/main">
            <a:r>
              <a:t>- Repository: acceptance/generated/coverage-audit.md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deploy/README.md</a:t>
            </a:r>
          </a:p>
          <a:p xmlns:a="http://schemas.openxmlformats.org/drawingml/2006/main">
            <a:r>
              <a:t>- Repository: deploy/helm/guardllm</a:t>
            </a:r>
          </a:p>
          <a:p xmlns:a="http://schemas.openxmlformats.org/drawingml/2006/main">
            <a:r>
              <a:t>- Repository: docs/runbooks/nsf-plan-runtime-integration.md</a:t>
            </a:r>
          </a:p>
          <a:p xmlns:a="http://schemas.openxmlformats.org/drawingml/2006/main">
            <a:r>
              <a:t>- Repository: acceptance/integrated-plan/scope-manifest.json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https://learn.microsoft.com/en-us/azure/ai-services/content-safety/overview</a:t>
            </a:r>
          </a:p>
          <a:p xmlns:a="http://schemas.openxmlformats.org/drawingml/2006/main">
            <a:r>
              <a:t>- https://docs.aws.amazon.com/bedrock/latest/userguide/guardrails-components.html</a:t>
            </a:r>
          </a:p>
          <a:p xmlns:a="http://schemas.openxmlformats.org/drawingml/2006/main">
            <a:r>
              <a:t>- https://docs.cloud.google.com/model-armor/overview</a:t>
            </a:r>
          </a:p>
          <a:p xmlns:a="http://schemas.openxmlformats.org/drawingml/2006/main">
            <a:r>
              <a:t>- https://docs.nvidia.com/nemo/guardrails/latest/home</a:t>
            </a:r>
          </a:p>
          <a:p xmlns:a="http://schemas.openxmlformats.org/drawingml/2006/main">
            <a:r>
              <a:t>- https://docs.paloaltonetworks.com/ai-runtime-security</a:t>
            </a:r>
          </a:p>
          <a:p xmlns:a="http://schemas.openxmlformats.org/drawingml/2006/main">
            <a:r>
              <a:t>- https://www.cisco.com/c/en/us/products/collateral/security/ai-defense/ai-defense-ds.html</a:t>
            </a:r>
          </a:p>
          <a:p xmlns:a="http://schemas.openxmlformats.org/drawingml/2006/main">
            <a:r>
              <a:t>- Repository: acceptance/integrated-plan/execution-manifest.json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src/lib/policy-bundle</a:t>
            </a:r>
          </a:p>
          <a:p xmlns:a="http://schemas.openxmlformats.org/drawingml/2006/main">
            <a:r>
              <a:t>- Repository: src/lib/resource-control</a:t>
            </a:r>
          </a:p>
          <a:p xmlns:a="http://schemas.openxmlformats.org/drawingml/2006/main">
            <a:r>
              <a:t>- Repository: src/lib/rag</a:t>
            </a:r>
          </a:p>
          <a:p xmlns:a="http://schemas.openxmlformats.org/drawingml/2006/main">
            <a:r>
              <a:t>- Repository: src/lib/tools</a:t>
            </a:r>
          </a:p>
          <a:p xmlns:a="http://schemas.openxmlformats.org/drawingml/2006/main">
            <a:r>
              <a:t>- Repository: deploy/README.md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acceptance/integrated-plan/execution-manifest.json</a:t>
            </a:r>
          </a:p>
          <a:p xmlns:a="http://schemas.openxmlformats.org/drawingml/2006/main">
            <a:r>
              <a:t>- Repository: acceptance/integrated-plan/scope-manifest.json</a:t>
            </a:r>
          </a:p>
          <a:p xmlns:a="http://schemas.openxmlformats.org/drawingml/2006/main">
            <a:r>
              <a:t>- Repository: 输出/代码分析与升级/15_NSF_AI安全一体机整合计划实施更新总结_V1.0_2026-09-03.md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Repository: acceptance/integrated-plan/execution-manifest.json</a:t>
            </a:r>
          </a:p>
          <a:p xmlns:a="http://schemas.openxmlformats.org/drawingml/2006/main">
            <a:r>
              <a:t>- Repository: docs/runbooks/nsf-plan-runtime-integration.md</a:t>
            </a:r>
          </a:p>
          <a:p xmlns:a="http://schemas.openxmlformats.org/drawingml/2006/main">
            <a:r>
              <a:t>- Repository: 输出/产品资料/2026-09-03/02_GuardLLM_全面操作与测试手册_V1.0_2026-09-03.docx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5586ca9e3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408a9aa9f4a1f" /><Relationship Type="http://schemas.openxmlformats.org/officeDocument/2006/relationships/slideLayout" Target="/ppt/slideLayouts/slideLayout1.xml" Id="R64e76101b7a2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e76101b7a2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732df7b654f82" /><Relationship Type="http://schemas.openxmlformats.org/officeDocument/2006/relationships/image" Target="/ppt/media/image.png" Id="R0c583365efa341e0" /><Relationship Type="http://schemas.openxmlformats.org/officeDocument/2006/relationships/notesSlide" Target="/ppt/notesSlides/notesSlide1.xml" Id="Ref905b3e913b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9418d8d84ed0" /><Relationship Type="http://schemas.openxmlformats.org/officeDocument/2006/relationships/notesSlide" Target="/ppt/notesSlides/notesSlide2.xml" Id="R90dc13a9c91847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65a3e32cc4be7" /><Relationship Type="http://schemas.openxmlformats.org/officeDocument/2006/relationships/notesSlide" Target="/ppt/notesSlides/notesSlide3.xml" Id="Rafe51357dfcc48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2b7faa7254e09" /><Relationship Type="http://schemas.openxmlformats.org/officeDocument/2006/relationships/notesSlide" Target="/ppt/notesSlides/notesSlide4.xml" Id="R03b561825e8a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5907c485b464a" /><Relationship Type="http://schemas.openxmlformats.org/officeDocument/2006/relationships/notesSlide" Target="/ppt/notesSlides/notesSlide5.xml" Id="R0b5767e36ed340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9acb3e2a54273" /><Relationship Type="http://schemas.openxmlformats.org/officeDocument/2006/relationships/notesSlide" Target="/ppt/notesSlides/notesSlide6.xml" Id="R4291a1b67ae7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1359ac13f476a" /><Relationship Type="http://schemas.openxmlformats.org/officeDocument/2006/relationships/notesSlide" Target="/ppt/notesSlides/notesSlide7.xml" Id="Rf620c4a41f9d4d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226e6ded444e4" /><Relationship Type="http://schemas.openxmlformats.org/officeDocument/2006/relationships/notesSlide" Target="/ppt/notesSlides/notesSlide8.xml" Id="R5225e5782d5b40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58fa5f724d2d" /><Relationship Type="http://schemas.openxmlformats.org/officeDocument/2006/relationships/notesSlide" Target="/ppt/notesSlides/notesSlide9.xml" Id="R0d520949ebcd4f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29ede197475a" /><Relationship Type="http://schemas.openxmlformats.org/officeDocument/2006/relationships/notesSlide" Target="/ppt/notesSlides/notesSlide10.xml" Id="R8a641290b17645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bb4395a5a4402" /><Relationship Type="http://schemas.openxmlformats.org/officeDocument/2006/relationships/notesSlide" Target="/ppt/notesSlides/notesSlide11.xml" Id="Rab55e0a4c75e4c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3ac25945413f" /><Relationship Type="http://schemas.openxmlformats.org/officeDocument/2006/relationships/notesSlide" Target="/ppt/notesSlides/notesSlide12.xml" Id="R3982aadfc93144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a509411c64aa5" /><Relationship Type="http://schemas.openxmlformats.org/officeDocument/2006/relationships/notesSlide" Target="/ppt/notesSlides/notesSlide13.xml" Id="R7ee55749b44b4d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8c9ee97c4947" /><Relationship Type="http://schemas.openxmlformats.org/officeDocument/2006/relationships/notesSlide" Target="/ppt/notesSlides/notesSlide14.xml" Id="Rc27ac481c9c348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7249c94ef4861" /><Relationship Type="http://schemas.openxmlformats.org/officeDocument/2006/relationships/notesSlide" Target="/ppt/notesSlides/notesSlide15.xml" Id="Rfcf5adccd6a342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f82918cff4f80" /><Relationship Type="http://schemas.openxmlformats.org/officeDocument/2006/relationships/notesSlide" Target="/ppt/notesSlides/notesSlide16.xml" Id="Rff11c369e77541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04e084514403c" /><Relationship Type="http://schemas.openxmlformats.org/officeDocument/2006/relationships/chart" Target="/ppt/slides/charts/chart1.xml" Id="R1086fc1dd2764d44" /><Relationship Type="http://schemas.openxmlformats.org/officeDocument/2006/relationships/notesSlide" Target="/ppt/notesSlides/notesSlide17.xml" Id="Raa37bc1edc9d4e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11368002f458d" /><Relationship Type="http://schemas.openxmlformats.org/officeDocument/2006/relationships/notesSlide" Target="/ppt/notesSlides/notesSlide18.xml" Id="R8ea387d661b34f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工作包数量</c:v>
          </c:tx>
          <c:spPr>
            <a:solidFill xmlns:a="http://schemas.openxmlformats.org/drawingml/2006/main">
              <a:srgbClr val="1D63A9"/>
            </a:solidFill>
          </c:spPr>
          <c:cat>
            <c:strLit>
              <c:ptCount val="4"/>
              <c:pt idx="0">
                <c:v>代码实现待验收</c:v>
              </c:pt>
              <c:pt idx="1">
                <c:v>部分基线</c:v>
              </c:pt>
              <c:pt idx="2">
                <c:v>外部推进</c:v>
              </c:pt>
              <c:pt idx="3">
                <c:v>外部阻塞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2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9165D-800F-4539-8EDD-DBE9EA5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E099B-ED14-45F4-9C82-72E19B4F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GUARDLLM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5EABF-CA8B-4DA9-8608-B0A00CD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大模型与智能体</a:t>
            </a:r>
          </a:p>
          <a:p xmlns:a="http://schemas.openxmlformats.org/drawingml/2006/main">
            <a:pPr algn="l">
              <a:defRPr sz="37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安全护栏平台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1DD3E-1D79-42F4-A919-041EEA6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面向关键基础设施行业的独立 AI 安全控制面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2774B-82F1-4109-9781-40664F15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输入 / 输出  ·  RAG  ·  Agent  ·  数据  ·  供应链  ·  运营证据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AC85D-24D5-4022-88D8-3C1ACDC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产品介绍  V1.0  |  2026-09-03</a:t>
            </a:r>
          </a:p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代码基线：main@96cb4d5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F73A2-BBF1-4A73-9AAB-7185301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6750"/>
            <a:ext cx="542925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83365efa341e0"/>
          <a:stretch xmlns:a="http://schemas.openxmlformats.org/drawingml/2006/main"/>
        </p:blipFill>
        <p:spPr>
          <a:xfrm xmlns:a="http://schemas.openxmlformats.org/drawingml/2006/main">
            <a:off x="6429375" y="1336424"/>
            <a:ext cx="4953000" cy="288975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B4FDF-C24A-4097-81EF-A2C77584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667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统一决策  ·  签名策略  ·  可灰度  ·  可回滚  ·  可审计</a:t>
            </a:r>
          </a:p>
        </p:txBody>
      </p:sp>
    </p:spTree>
    <p:extLst>
      <p:ext uri="{BB962C8B-B14F-4D97-AF65-F5344CB8AC3E}">
        <p14:creationId xmlns:p14="http://schemas.microsoft.com/office/powerpoint/2010/main" val="676231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E9921-1C5C-4B8B-AEEF-9D94CFE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产品主张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8F97-D6D2-4646-9CFE-B1D470D8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先把 AI 安全变成可治理的控制面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7D1BD-C804-4E57-A2C7-F77BBC2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0BF01-E822-4ED3-8707-D70B517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3AF27-9F06-4233-AE3F-D883CE7A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不是再增加一个内容分类器，而是统一五个问题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47008-6BB2-46CE-8C53-4242DA4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344F-BCC5-43ED-80CB-4EC642E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579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内容是否安全：输入、输出与多模态风险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2F5C9-FAB3-4BC5-AF05-926D2F1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6901B-84D8-4312-A52C-7FEF91DD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579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上下文是否可信：系统、RAG、工具与外部事件来源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4BD42-CE15-43BA-840E-D008C2D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E7135-F745-4AE0-8A40-A4A3349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79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动作是否获权：Agent 工具副作用与一次性许可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12ACF-4BCC-4720-ADB0-BFFFEDF1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2624D-A8FF-4176-A089-025180F5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579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资源是否可承受：Token、复杂度、并发与多作用域配额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001D7-F956-4A0C-A68C-EA1E656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E6D71-DF84-4D8D-9B0A-B8810DC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579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证据是否可证明：版本、数据、审批、灰度和回滚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09902-3893-43D7-865B-8A6CD95E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4000500" cy="40195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9F267-FD8A-4F6C-83DA-36A0C8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6BA62-ABDA-4DDF-BD8E-F31F165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5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5EF"/>
                </a:solidFill>
                <a:latin typeface="Microsoft YaHei"/>
                <a:ea typeface="Microsoft YaHei"/>
                <a:cs typeface="Microsoft YaHei"/>
              </a:rPr>
              <a:t>软件网关位于业务应用与模型、知识库、工具之间。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43163-C56A-47A8-BA40-217B43D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rPr>
              <a:t>统一动作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DB5BB-103F-430D-A7C9-8D91BD1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allow · warn · mask · rewrite · 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F7E44-E60D-43F7-81B5-D7E7F39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rPr>
              <a:t>统一证据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595CC-BF73-4968-9760-38E9460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673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Request / Trace / Bundle / Model / Tokenizer / Evidence</a:t>
            </a:r>
          </a:p>
        </p:txBody>
      </p:sp>
    </p:spTree>
    <p:extLst>
      <p:ext uri="{BB962C8B-B14F-4D97-AF65-F5344CB8AC3E}">
        <p14:creationId xmlns:p14="http://schemas.microsoft.com/office/powerpoint/2010/main" val="1642401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E9809-5572-4522-BE68-BD4D54C9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需求背景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A6FC8-A68F-43BD-9859-122A9402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AI 攻击面已经越过“内容审核”边界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302AC-BC75-4F8F-ABA7-49FE8F87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16FEA-9619-4D06-9739-46D4688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0C361-59D3-4223-A0A8-1F146501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7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F5B45-8396-4C34-9527-C298889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模型与提示词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09BB8-ED8C-4CF8-9FA4-27AC9FC7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057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越狱、提示泄露、推理攻击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26045-E0FC-4E98-9D56-C4D8702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FAFF0-F0E5-423F-902C-D4FB8397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知识与上下文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61C43-D37B-4AA1-A17A-16885521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33700"/>
            <a:ext cx="2057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RAG 投毒、ACL 越权、伪造来源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3D96F-DDC3-44BF-B47F-6BB235C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57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74B14-BA52-4827-B201-553E272B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Agent 与工具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94230-7007-47C1-AE25-2BEC17A4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2057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过度代理、参数替换、重放、副作用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CA650-DFFF-4704-A353-CA5A429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A5620-9945-4F78-A0B9-686568A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19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数据与身份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FB5AA-DF1C-454E-A1AB-9D68FA18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33700"/>
            <a:ext cx="2057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PII/密钥外泄、跨租户、过度留存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286B5-CCB0-4DFF-93FB-2DBF6EA6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57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8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02B64-CFC0-49AA-B0E1-31D73DD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供应链与运营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81AB8-0E38-419A-8A9B-C7B2EFC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2057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恶意模型/Skill/MCP、证据缺失、不可回滚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CBF25-499C-4254-8EEC-3B8E82F2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11252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FBD37-A088-43AE-9011-35C7290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3925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传统 WAF、DLP、内容审核、API 网关和模型评测各自解决局部问题；关键行业需要跨内容、上下文、行动、资源和证据的一致安全语义。</a:t>
            </a:r>
          </a:p>
        </p:txBody>
      </p:sp>
    </p:spTree>
    <p:extLst>
      <p:ext uri="{BB962C8B-B14F-4D97-AF65-F5344CB8AC3E}">
        <p14:creationId xmlns:p14="http://schemas.microsoft.com/office/powerpoint/2010/main" val="249849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9D95F6-3FE1-4C96-A9B9-09F68A1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技术发展趋势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EE245-9680-4794-85D7-92497A4D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六个趋势正在重塑企业 AI 安全架构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6AE76-8C20-480A-9613-A09FB2B4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55BB1-4C4C-4469-8B8B-1AF23CF3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31929-47D1-4418-92D6-F1B251DD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AAE88-9C31-4DB1-A10A-79DB1DC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0E90F-D3AF-4048-9136-84DB6A23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172D1-8C90-484B-AE63-8469278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E30DD-C8E1-495B-B8C6-10B0F05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从回答到执行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产品响应：Action Firewall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62C83-12A3-42E5-9102-6B1846C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E6EEC-E2B0-4C88-A32F-C6EF154A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66277-9C8C-47B0-A7B0-F59FE20E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0B537-BE5B-41CD-8DCA-A3198CA4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企业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D0E85-B439-435B-9AC1-C6C1BDA7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来源与权限决定可信度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产品响应：Provenance + ACL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CA777-45E3-48CB-82E1-CE50F5A0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D3579-39C3-4DBA-A978-D93B7B10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D6A94-665A-4ADD-A1D3-DAB38CC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42B87-441A-4895-88AE-CB7289C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多模态输入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39937-8CBF-44F2-AD3A-1D88C5C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攻击藏入文件与音视频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产品响应：多视图 + 时序融合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A2BA4-558D-4C12-A01C-13774195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B24E6-9B7F-402F-A77B-75FEEE93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E8F83-2FAF-4D7D-A7D1-F594D02C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3F4D6-FC64-4B30-AB1C-CF41D5FB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多模型并存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02060-F16F-4F1B-8165-4510B2C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云、开源、国产持续切换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产品响应：模型中立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DA4F3-C398-4AB1-A75B-CD88AA6D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675FF-E4ED-4CCA-8AAF-3AC83C19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A34E1-FA83-462A-BE65-5B56CE24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8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712F3-C955-4CBB-9A42-DB7114ED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862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证据化发布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91E579-28A1-4B1C-8D51-CA85822E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243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模型/规则变更必须可证明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产品响应：评测门禁 + 回滚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5295E-8E3C-41B8-8F98-F2E3A0F3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42900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00406-B21C-4E94-BDBE-E0F4CD1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0CF67-1FC0-4D53-8838-D132D99A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7004E-5753-415B-AD5C-3CE8A68C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AI 供应链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18E64D-1DD2-40F9-A1F4-FC01F1AF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模型、数据、规则、Skill/MCP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产品响应：AI-BOM + 签名</a:t>
            </a:r>
          </a:p>
        </p:txBody>
      </p:sp>
    </p:spTree>
    <p:extLst>
      <p:ext uri="{BB962C8B-B14F-4D97-AF65-F5344CB8AC3E}">
        <p14:creationId xmlns:p14="http://schemas.microsoft.com/office/powerpoint/2010/main" val="2138688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FAFB1-B096-41BF-B368-626FD95A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客户核心痛点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CF99E-6191-4D84-90BC-AF1702B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关键行业客户最难解决的是跨域责任链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B2FFB-C92A-4B62-838F-464F38F5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1862-77E0-4DB5-8536-54D34AD1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6A16D-82BE-46EF-9A5B-A052ED1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4EBA-BF23-4902-AEFD-B4DF89F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43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现有缺口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48CFB-5AC6-40DF-BAD1-F8A93605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43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GuardLLM 响应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E6469-E976-4AFE-8692-2CC9378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0D735-7F7B-4BBF-B51D-B443BC3D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数据不出域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58888-4B37-4F71-B9DE-2692AF8B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托管检测可能带来原文外传、区域与留存问题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D6146-C2D4-4898-ADA1-1620B55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私有部署 · 脱敏前置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FD5A1-DBC0-43BB-9B95-2B25561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多模型多应用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43C8E-2AB6-48FD-AF83-3072A9CC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9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团队自建规则导致口径、策略、证据不一致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EFA42-990A-4DCF-B54B-D27D69EF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统一契约 · 多租户作用域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6229B-CE96-424F-BEAF-B116212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9B07C-533E-43CA-BF9B-BDD9DD7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RAG /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0AF49-4AD4-473A-966C-15891A48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只审内容无法控制知识权限和实际副作用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11671-C7CB-4316-AFF8-4D4FB4EB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可信上下文 · 行动授权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C2E1C-1852-4FCA-86F5-EC2D6BB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长上下文 / 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771D3-374A-4F43-B521-8556C278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671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字符限长不等于 Token，资源攻击难隔离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0BA97-A12A-4769-B5A2-6996D4F3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精确 Tokenizer · 配额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E1457-F84A-4821-B26C-48469D1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6DE7E-1EBE-4574-A160-96D75E41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审计与发布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0207F-0CCF-48B9-A940-6D657CE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版本、数据、审批、线上结果无法闭环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07051-B555-4105-9329-2B93CD6C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不可变证据 · 灰度回滚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F6440-F802-494A-88AB-28226A79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信创 / 离线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F63EB-B6A8-4BFF-BDB3-4B5E6B5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244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云依赖和平台差异阻碍落地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C3127-9358-4DCD-890B-1383F9D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24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OCI · 离线包 · PAL/HAL</a:t>
            </a:r>
          </a:p>
        </p:txBody>
      </p:sp>
    </p:spTree>
    <p:extLst>
      <p:ext uri="{BB962C8B-B14F-4D97-AF65-F5344CB8AC3E}">
        <p14:creationId xmlns:p14="http://schemas.microsoft.com/office/powerpoint/2010/main" val="1800363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EFD5E-E5C8-4CE7-9465-8B3334A8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E8E46-C496-42CD-B9C1-66FB60E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从接入到运营的一体化安全架构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B665B-0B07-454C-B981-C382FB9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3873-DBEC-4CA5-86AB-9ABB20E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48FDF-791B-444E-98DF-89A9628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990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E5D73-938F-4691-A625-E5BC04A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接入与身份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6E602-EE63-468C-B088-1E3810C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控制台 · REST/SDK · Java Gateway · RAG/Agent/文件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79AD1-EA8D-45A1-8C9A-A37EDF7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076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0D64-AB51-49AC-8C17-EF103FE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990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1B9A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FF2A7-4E72-4B2A-8822-678FE3BB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签名控制面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F42F9-0A53-49AE-AA17-B1CED60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策略 Bundle · GuardEngine V2 DAG · 灰度路由 · 资源准入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CCE69-279E-4D3B-AED4-81A24F2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952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23949-E819-4181-A9DC-C909E230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990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9525">
            <a:solidFill>
              <a:srgbClr val="2D7D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2DB94-F6D3-443B-A1F0-52EFB77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D5A"/>
                </a:solidFill>
                <a:latin typeface="Microsoft YaHei"/>
                <a:ea typeface="Microsoft YaHei"/>
                <a:cs typeface="Microsoft YaHei"/>
              </a:rPr>
              <a:t>检测与执行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FF4E4-930B-42FC-8A21-6E06FF2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规则/语义/Judge · DLP · 多模态 · RAG Groundedness · Action Firewall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36B3C-273C-45A6-865D-82362C4B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829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DB28F-664B-4FA6-B1B7-6C5E93C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990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77451-6EA9-4847-8F8E-ACB10D5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6A16"/>
                </a:solidFill>
                <a:latin typeface="Microsoft YaHei"/>
                <a:ea typeface="Microsoft YaHei"/>
                <a:cs typeface="Microsoft YaHei"/>
              </a:rPr>
              <a:t>数据与证据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932F0-28A2-46FA-8561-CB34D2C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PostgreSQL · Redis · 对象存储 · 审计链 · 评测与扫描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CFE93-A4D4-4D16-8E12-701B890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053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74D01-89BA-4DBB-8E69-6BFC42B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90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ECEC"/>
          </a:solidFill>
          <a:ln xmlns:a="http://schemas.openxmlformats.org/drawingml/2006/main" w="9525">
            <a:solidFill>
              <a:srgbClr val="B438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EFD5F-85AE-4FC3-9E89-70D4EBF4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rPr>
              <a:t>运营与集成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F5915-B641-42FC-BD3A-DFF959AC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事件/SLA · TONE/SIEM · 指标告警 · AI-BOM · 离线交付</a:t>
            </a:r>
          </a:p>
        </p:txBody>
      </p:sp>
    </p:spTree>
    <p:extLst>
      <p:ext uri="{BB962C8B-B14F-4D97-AF65-F5344CB8AC3E}">
        <p14:creationId xmlns:p14="http://schemas.microsoft.com/office/powerpoint/2010/main" val="1089917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5F75A-5900-4D2B-A5A3-47A299C4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核心请求链路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44CE9-F34A-4F0F-B47F-7517B048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一次请求如何形成可审计决策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6ED7B-0462-4DF8-9009-1ABD4615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0129C-E5E0-496C-8907-199D5A6C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19C89-7381-40E6-965C-AD7D120C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F9C1A-BCC0-4359-A111-EA5BC649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身份作用域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FDD35-AFF6-4585-B13D-8057A0B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租户 / 应用 / 主体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1C93B-7B49-4B13-BD49-43D8B04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431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8CB5-2B9A-4C96-83FF-AC6483F2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3FB39-560B-492C-91E3-B00566C4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可信上下文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E2548-EE2A-4BE7-80BE-D7347DB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来源 / ACL / 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E4267-386B-4AD2-9C48-956B9A9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37D01-780D-4773-8D43-683CBF3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154C7-5891-47CA-9DFB-C2DA1081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资源准入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6B4D5-D24C-4369-B35B-5625549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Token / 复杂度 / 配额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52189-4DF4-4784-8C3F-AFCFE39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9DC2F-FFAA-4606-B4ED-4E9A62B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F8A9D-BA8A-47F9-99DC-6B400F17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检测 DAG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09D1D-9068-4522-A61D-2697B4C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规则 / 语义 /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D9144-698E-42FF-8150-4B78E3E9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5A3D6-57B3-4AB3-861D-CF455095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8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C6FF3-2EC8-4770-98EC-4AAF9FA4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决策处置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BE614-8F89-42C4-8A11-4F7686E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五类动作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DF502-2A5B-4097-910D-40E3A384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431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0FC18-5B47-45C8-865C-BC44CEB1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14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B5A17-88B2-46E8-B865-E830F17C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证据运营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23B11-6683-47EC-A0D1-3A3FA26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52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Trace / 事件 / 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968BF-D4DF-42F7-9BF4-9166AB75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05537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F9832-EE36-4160-9661-95823A0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输出不仅是分数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B27D6-4294-4A3F-A954-A587069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8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8EAF3"/>
                </a:solidFill>
                <a:latin typeface="Microsoft YaHei"/>
                <a:ea typeface="Microsoft YaHei"/>
                <a:cs typeface="Microsoft YaHei"/>
              </a:rPr>
              <a:t>动作 + 风险 + 置信度 + 证据 + 策略/模型/Tokenizer 版本 + Request/Trace ID</a:t>
            </a:r>
          </a:p>
        </p:txBody>
      </p:sp>
    </p:spTree>
    <p:extLst>
      <p:ext uri="{BB962C8B-B14F-4D97-AF65-F5344CB8AC3E}">
        <p14:creationId xmlns:p14="http://schemas.microsoft.com/office/powerpoint/2010/main" val="20134370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467D2-0055-4EB1-887C-1E7B257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产品核心功能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B374C-A9CA-493A-979D-98FADB4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十一项能力组成完整产品闭环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658AC-454B-4712-9AF6-978431A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F223-51BF-4E0F-A704-D059511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B8EB3-BA5C-4639-B0E7-F6DB4F07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E7E17-3459-4A45-B3C5-4D592E29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97CD-1A77-4FFF-B29E-6F6EF6A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双向 GuardEngine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A1F3F-8E01-4B54-9CA4-2A153199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E958A-E9EA-4D9C-B167-9D50448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08EB9-B33E-45AA-950B-5A67CB3D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16 维风险/五类动作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92B58-5D8F-4736-BB52-CEA36AF1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501E-0A01-4514-A5C0-4BFC7C6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662B3-FFFB-4CED-B4A9-E952682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签名策略与灰度回滚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67C2E-8CF2-42C4-976E-9CD705AC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811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C3448-58EB-4F9F-A52F-CF11F43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EC07F-2926-48DA-8CA2-6E6DA09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长上下文与资源治理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B3094-619E-4C16-883F-6538D4F5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A3491-147E-4EF9-896E-CB40E7B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611F9-8361-4034-9A25-BDBAE16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RAG 来源/ACL/Grounding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403CE-76E5-4311-8A2D-08C314E0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3370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12CDC-ABE1-4AED-BBB4-BB02F46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C661B-3D08-4EEA-B0F7-27667E3E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Agent Action Firewall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9912F-7CAE-423C-8104-5521BCD1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38527-3BA9-4B70-AE9C-5F14792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301FE-1BF3-459F-B5A1-79725DB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DLP/数据目录/内容标识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06721-0615-44B7-A0C1-4A47D66C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3EF70-502E-4B1E-82E5-63EC452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72913-C9BD-4F34-986D-4BADD505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文档与多模态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56342-5A65-4B17-BE46-0A9B4A1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929C2-4EB0-46CC-8D23-5587B22E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6FB11-FBEC-4D0E-B9B4-0EE8CD3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评测/红队/安全扫描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2CE043-C075-4851-AD0C-AA43849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8D6C67-76F1-4761-B4F1-064B1C14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38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6D4A1-E240-4B79-801A-859BAEE8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43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事件/审计/可观测性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B39585-C461-4308-BA61-96DFE3EA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571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02F84D-8B8F-4305-B8A6-0B798BB3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D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DE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799D9A-7A4C-45DC-8885-EA915E3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43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供应链/离线/平台适配</a:t>
            </a:r>
          </a:p>
        </p:txBody>
      </p:sp>
    </p:spTree>
    <p:extLst>
      <p:ext uri="{BB962C8B-B14F-4D97-AF65-F5344CB8AC3E}">
        <p14:creationId xmlns:p14="http://schemas.microsoft.com/office/powerpoint/2010/main" val="961138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6F248-D577-4FAC-8FF1-FF0CBE62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GUARD 与 16 维检测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3520D-5DEF-4C5D-9B2F-761A96A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规则、语义与 Judge 在同一 DAG 中融合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4291-E8EB-4D47-8610-5103F54C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02D32-8BB7-4CA9-8EB1-63C9D91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64279-9118-430B-9C5E-926DDC4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905250" cy="400050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AC2C7-5E5E-4E05-8803-0A2C798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分层检测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E181A-DE74-4CAB-AF87-A7AA666E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238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rPr>
              <a:t>1  规范化与安全正则</a:t>
            </a:r>
          </a:p>
          <a:p xmlns:a="http://schemas.openxmlformats.org/drawingml/2006/main">
            <a:pPr algn="l">
              <a:def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rPr>
              <a:t>2  语义分类器与校准</a:t>
            </a:r>
          </a:p>
          <a:p xmlns:a="http://schemas.openxmlformats.org/drawingml/2006/main">
            <a:pPr algn="l">
              <a:def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rPr>
              <a:t>3  LLM Judge 升级判定</a:t>
            </a:r>
          </a:p>
          <a:p xmlns:a="http://schemas.openxmlformats.org/drawingml/2006/main">
            <a:pPr algn="l">
              <a:def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rPr>
              <a:t>4  风险聚合与动作执行</a:t>
            </a:r>
          </a:p>
          <a:p xmlns:a="http://schemas.openxmlformats.org/drawingml/2006/main">
            <a:pPr algn="l">
              <a:def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8F0"/>
                </a:solidFill>
                <a:latin typeface="Microsoft YaHei"/>
                <a:ea typeface="Microsoft YaHei"/>
                <a:cs typeface="Microsoft YaHei"/>
              </a:rPr>
              <a:t>5  流式提交门与 fail-closed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8AA9B-D9BC-44B1-B87A-7D28797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rPr>
              <a:t>allow · warn · mask · rewrite ·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56862-1AD9-4858-8CED-7ADDB90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提示注入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56638-BAB7-4282-8EC0-6D1683E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PII 泄露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7255C-9AFC-4B73-9C1B-82A1C40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恶意代码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7E173-96D8-40DA-83A5-4804D750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619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暴力仇恨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93DD5-FEDE-4CF9-B40E-560E1C0B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违法内容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FEDEE-99D5-4CD6-AF7D-3B30E83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垃圾信息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03A99-70DC-4FC0-985B-CF4A53A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广告检测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CA65C-5F06-4A68-BDC5-9D03E1A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敏感合规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7D601-A6DA-40B3-BD65-0F9FA510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成人内容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16001-9BD8-42DF-8190-4F729EC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自伤风险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0C899-B53A-400E-9E0A-09FE1E0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凭证泄露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85B3E-4D67-479F-8E99-B55EBF54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242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欺诈诈骗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11EF1-4C83-46D2-B697-90916CA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虚假信息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5FA4B-D655-43E9-9C83-E17E89BD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76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版权风险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53B67-5589-4419-99AC-E24512DA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商业敏感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6F542-36D7-4694-87C6-93D6381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76750"/>
            <a:ext cx="15049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输出泄露</a:t>
            </a:r>
          </a:p>
        </p:txBody>
      </p:sp>
    </p:spTree>
    <p:extLst>
      <p:ext uri="{BB962C8B-B14F-4D97-AF65-F5344CB8AC3E}">
        <p14:creationId xmlns:p14="http://schemas.microsoft.com/office/powerpoint/2010/main" val="1689579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1D7EF-C49E-4897-A1C8-DD54E68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RAG +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D8636-595E-48C8-ACBE-27A654E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把知识可信与执行权限纳入同一安全边界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B1949-C73F-4934-92E4-DEEE8641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2692F-1F96-42CF-B132-A9E615E3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441DE-F1DC-4A00-980C-08C2D65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RAG 安全门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54D19-BF72-41F9-933A-168C6F9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7625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入库：来源 / 摘要 / 许可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C48D5-654A-4B71-BFDA-AC37D088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47625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检索：租户 / 应用 ACL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A4B88-0293-4C2E-ABDF-F38F3DB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47625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组装：来源能力不越权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58FA5-5006-424D-A0A3-24E7C08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47625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输出：Groundedness + 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494C-2061-42AA-B07C-A5F8764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Agent Action Firewall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50DB9-AB11-4ED0-9ED8-A4B9FC93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9530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意图：主体 / 工具 / 参数摘要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DDC3-0FB7-4F90-A6BD-EDC2118E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9530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判定：允许 / 拒绝 / 人工审批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E5B8B-D8DF-43BA-AB38-1B42AA26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49530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许可：短时、一次性、不可转移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8FD01-E43B-47A3-ACD1-2476CB1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9530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结果：重新检测，阻断间接注入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E37D0-1E38-427F-887C-A144C193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共同底座：可信上下文 · 签名策略 · 统一决策 · Trace 证据</a:t>
            </a:r>
          </a:p>
        </p:txBody>
      </p:sp>
    </p:spTree>
    <p:extLst>
      <p:ext uri="{BB962C8B-B14F-4D97-AF65-F5344CB8AC3E}">
        <p14:creationId xmlns:p14="http://schemas.microsoft.com/office/powerpoint/2010/main" val="1841694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3E557-93EC-40D8-B06D-B6F1F440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策略发布与回滚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4121F-4DD8-4F65-A478-BB83E24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安全策略必须经过证据门禁再进入生产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8F78E-2543-44CA-9575-13D0881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6988B-77C6-4A48-873E-D9154711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D0F43-81B4-4FF2-A3EB-97957ABB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74521-3BEB-44D5-9C16-234E0AA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D74D1-DBE1-4342-955E-C212EFD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4AE66-57F7-46C0-B158-573F95F4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99FF3-5D72-4EBA-AAA7-E4EAFD3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待审批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F7835-4DDE-4AE0-846E-46EC2F7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7F92B-6BC0-4601-87A3-0627D08E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已审批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8A081-C3AD-464A-806C-0A2E1C5C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BF775-2B8E-43B4-B184-7F80DCC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影子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4C6B6-AD9F-4A75-B827-A87E3F9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50A0D-8B5A-4537-9906-88A3719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D63A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灰度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8DB77-56C5-4163-9B19-AD8E3AFF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0B2A0-65B0-4B50-8B98-2757BB1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02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FA691-16D7-4F1C-A11A-9E21A9A4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91125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1B090-68FA-409E-A21D-8EF93F8E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评测门禁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96EE-56E3-4A1B-8267-9AE4FEE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默认：≥2000 样本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Accuracy ≥95%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Recall ≥95%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FPR ≤1% · FNR ≤5%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A63C6-5394-462A-A600-CF42626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4673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B0763-3F54-488B-8ABF-C226610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0EE44-0F5F-4013-B76B-E255A51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rPr>
              <a:t>创建者不得自审批</a:t>
            </a:r>
          </a:p>
          <a:p xmlns:a="http://schemas.openxmlformats.org/drawingml/2006/main">
            <a:pPr algn="l">
              <a:def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rPr>
              <a:t>影子不改变线上动作</a:t>
            </a:r>
          </a:p>
          <a:p xmlns:a="http://schemas.openxmlformats.org/drawingml/2006/main">
            <a:pPr algn="l">
              <a:def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rPr>
              <a:t>灰度限定 1%~99%</a:t>
            </a:r>
          </a:p>
          <a:p xmlns:a="http://schemas.openxmlformats.org/drawingml/2006/main">
            <a:pPr algn="l">
              <a:def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rPr>
              <a:t>激活保留上一版本，一键原子回滚</a:t>
            </a:r>
          </a:p>
        </p:txBody>
      </p:sp>
    </p:spTree>
    <p:extLst>
      <p:ext uri="{BB962C8B-B14F-4D97-AF65-F5344CB8AC3E}">
        <p14:creationId xmlns:p14="http://schemas.microsoft.com/office/powerpoint/2010/main" val="1311761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A245DF-F152-4857-BB56-A905AC6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安全运营与证据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D1241-62E3-4627-9B4C-6F9AB41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一次告警进入可分派、可处置、可审计的闭环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642ED-13FE-4AB1-A01A-CB9568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0B071-11DA-48CC-960D-45CFFDFE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7569A-8A63-4970-8F10-CAC4AE6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571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FA00-99A0-40A6-8CFC-829A209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71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CF5AD-F091-4976-A8B2-AD8D069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33792-05E5-4D83-96E9-621924E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335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业务交互域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F58A5-954E-4794-8DD9-39CFECB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输入 / 输出 / 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12ED7-126E-4047-A61F-0928E272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2571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235C9-5F86-485C-A55C-1D8E548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62100"/>
            <a:ext cx="571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45AD2-DA41-4E12-BAD7-A2CE61A5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DB07A-B770-4A0E-BD90-3CB70967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335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AI 安全域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0C2B3-9913-47C0-AD04-DFE31F8D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风险 / 节点 / 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ADFE2-FB26-4145-ACA1-1195480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571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A0AB2-425B-4D1A-8FD9-901459F5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71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504DE-D7D7-454E-A1D4-BF189F21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E2690-DF2C-45B7-B916-803607AC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控制面域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E131B-1963-496A-8E6B-19F767A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策略 / 模型 / 账号变更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BE09D-90DD-4330-A2C4-C3F7D34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571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3AAE5-DA98-4F13-B252-307FD4A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5715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A2B65-71B1-4A44-AEC0-F70D906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2F35D-F165-4128-B867-3A71853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335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平台运行域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23682-B5A4-4A70-B372-14EB60E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容量 / 队列 / 依赖 / 错误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D614F-9F2F-4910-B077-D6853D94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238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待研判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EAAC9-BFA6-4621-803A-676DF520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623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A335D-2771-46B0-8E0D-5DA652F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38550"/>
            <a:ext cx="1238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处理中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FA808-319E-497D-AA64-2C5BED7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623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3BDC1-78C9-449D-8A0D-051FFE8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38550"/>
            <a:ext cx="23431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误报 / 已阻断 / 已整改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799D97-8DDE-467F-9F62-88FDB874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623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B3CB0-FA23-4AB3-A910-B4D41CD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1238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已关闭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AD701-76AE-4F66-9C0B-D1964C28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754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审计链 + 可信时间 + 导出审批 + TONE/SIEM 幂等重试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0B10A0-2972-4C54-B8A4-692D0CB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85750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33056-9F94-4E88-A01E-1909103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rPr>
              <a:t>SLA 控制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CEE51-22CA-447E-BFF8-DEF90CB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处理中必须指定责任人</a:t>
            </a:r>
          </a:p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误报 / 整改 / 关闭必须填写处置说明</a:t>
            </a:r>
          </a:p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终态事件不可继续迁移</a:t>
            </a:r>
          </a:p>
        </p:txBody>
      </p:sp>
    </p:spTree>
    <p:extLst>
      <p:ext uri="{BB962C8B-B14F-4D97-AF65-F5344CB8AC3E}">
        <p14:creationId xmlns:p14="http://schemas.microsoft.com/office/powerpoint/2010/main" val="7406026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85016-7D14-4480-998F-99B8263A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864DC-6D8D-4266-AF50-593A2B0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六类场景可以共用同一安全底座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67AB3-DE0B-4587-9485-EEC4CDD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8447-8A55-45C3-92C9-7ABE832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3310-7F28-4913-9437-D6BC9FF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D6623-0FCB-42F7-97BC-ECB897A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金融客服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75AAC-F410-4ED0-9B82-5D2D76A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双向 Guard + DLP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51F7E-5CBB-4742-A3C2-AAC9F124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违规与敏感外泄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502AD-B608-4352-893F-47B294B2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E91DD-9E90-47C0-A339-847F4C1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保险核保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6435E-F4EF-4061-AAC8-0CCA307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81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数据目录 + Agent 审批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7CB6E-4626-41A6-AFF6-6B64807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健康/财产数据与高危动作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F5171-FC53-4F4B-90A6-D30412A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3A319-116F-4ABB-B7A4-0F575379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政务问答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82E8B-73C1-4AD8-8AF0-E9F27CB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RAG ACL + 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F7C5A-9AFD-496B-9A1F-383103C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授权知识与可核验回答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92528-4389-4789-943C-44BCE79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85E33-B547-4437-B261-B8582EE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能源运维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14AEC-6822-4067-8C0A-27E2314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Action Firewall + Permit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275DA-38A7-4317-8C90-F1FA1DE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危险操作与参数替换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AD8E4-2AF4-441E-80A3-ED497BA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2AD16-F47C-4368-9EB9-7D6D378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研发助手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3FD51-0DCC-4DF8-B5C3-8929F3B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密钥 + 恶意代码 + 供应链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A75F6-78E5-4D44-ABE3-E305D8F2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95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代码、凭证与组件风险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8250D-4825-487A-A050-50321C8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521B1-E9A4-46E3-9FD7-7CA3DA6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B557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安全运营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A9A74-0087-4B45-9460-9595BEF0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148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 + SIEM/TONE + 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58407-AB6F-4F41-89DD-B732F697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95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8F0"/>
                </a:solidFill>
                <a:latin typeface="Microsoft YaHei"/>
                <a:ea typeface="Microsoft YaHei"/>
                <a:cs typeface="Microsoft YaHei"/>
              </a:rPr>
              <a:t>SOC 闭环与可审计发布</a:t>
            </a:r>
          </a:p>
        </p:txBody>
      </p:sp>
    </p:spTree>
    <p:extLst>
      <p:ext uri="{BB962C8B-B14F-4D97-AF65-F5344CB8AC3E}">
        <p14:creationId xmlns:p14="http://schemas.microsoft.com/office/powerpoint/2010/main" val="1744421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CB8EF-4CB3-41E2-AC43-7BA2391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部署与集成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66DFF-0BEF-41CB-BAB5-B5E5C61E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Version A 以软件网关交付，平台服务独立治理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AB99E-C494-46B4-BF53-D3080DC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83888-BA5B-4E83-952A-82840CE0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602BB-35C5-4A66-910B-BD5313C6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GuardLLM 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39231-779B-4EEC-BD0D-E06000F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67DE2-7033-4C57-A99B-831863AB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74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Next.js 控制应用 + Guard API / Java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2C342-B216-4C63-A532-DA980E5A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6347C-C85C-4526-87DE-7AF1629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474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异步 Worker：评测、扫描、工件、多模态、RAG、审计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184F8-77C3-4C05-9302-4762AB5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5651F-5EC2-4747-BA86-6AE68CAF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74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Helm / Kustomize：隔离命名空间、NetworkPolicy、mTLS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40C26-0218-4A3D-A07A-F52B39F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AB07F-5A04-4A48-84C9-A0AC5F58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74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离线包：签名验证、CycloneDX SBOM、SHA256SUMS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83BEA-E8DD-4E57-840A-5BCC980D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客户平台依赖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7917C-E06B-4AC3-BF35-C9E0607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PostgreSQL / Redis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7EBE5-3BF8-4744-ABAE-A5390D9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Kafka / Syslog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E475C-5786-46AB-8B6A-61F52AE5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对象存储 / 搜索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FFDA7-1212-47B2-BC61-72149CDC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PKI / KMS / HSM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6F339-8C46-4C73-9A43-5066103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GPU/NPU 驱动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3FEB5-E9C6-485C-9DF4-F5AC85F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2247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Prometheus / Grafana / OTel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CC4B6-33E9-460F-8BF2-5F614A00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4762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D9A6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8FFD3-2EBE-456B-90C9-CBA06BE0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56A16"/>
                </a:solidFill>
                <a:latin typeface="Microsoft YaHei"/>
                <a:ea typeface="Microsoft YaHei"/>
                <a:cs typeface="Microsoft YaHei"/>
              </a:rPr>
              <a:t>Version B 网络数据面是独立外部项目，不属于当前软件网关承诺。</a:t>
            </a:r>
          </a:p>
        </p:txBody>
      </p:sp>
    </p:spTree>
    <p:extLst>
      <p:ext uri="{BB962C8B-B14F-4D97-AF65-F5344CB8AC3E}">
        <p14:creationId xmlns:p14="http://schemas.microsoft.com/office/powerpoint/2010/main" val="2444701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D0477B-2074-4621-8C39-A9547C3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国际厂商对比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9ADA3-6EDA-4A8D-A537-08310E3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国际头部厂商各有优势，GuardLLM 强调私有化与证据闭环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5C52C-906D-4B99-B1BD-36403F7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7DD17-7FBA-4C98-957E-46C1DF6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E5E2-FA94-4C96-AF9B-3F3CFFB3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7E80-CF19-4E4C-89F6-46ECE3D9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04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923C5-EBA5-44B1-B45B-D91B083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内容/运行时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DDB30-6883-468F-9364-9C6C1A6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 /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6C656-5444-40D0-8546-223E62D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04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供应链 / 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67EB5-A7D4-44A8-8546-5FAB592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Azure AI Content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D7E29-2999-4778-996C-4F2C9E73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24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70370-5629-467C-B2D2-24153399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5E7D1-73B8-4467-9733-4FDD7401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24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Groundedness / Prompt Shields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AAFB6-A119-44AE-ACB5-7182BE5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Azure 托管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579C8-FAE0-4873-8C45-0B59CD1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AWS Bedrock Guardrails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8BC06-10FA-43E3-8E18-7EFF59ED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44A54-045F-43D7-8CC2-ADF6425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B4CE9-3B73-4AE6-8C9B-7D4344A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765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Agents / KB 集成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BB579-17A8-4BB9-8DC8-46F4631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Bedrock 生态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A2B90-08A8-4CF8-B090-875F1BF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Google Model Armor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FAE07-E21B-4967-B0F4-491049A5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云/API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9DB1B-86FE-419D-BD0F-3B633510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FB106-5E82-4DE3-A3BA-887F57A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289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模型/云中立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7651B-CCE4-4CD1-BD66-584C436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Google Cloud 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C9F35-C911-4FCC-9CD0-A3C7CB1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NVIDIA NeMo Guardrails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5D842-B6FE-4A80-A454-2BF931E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58377-B0AF-4F6F-8280-FFC9D9D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可编程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E6AFA-B63F-4A92-BFDD-940E2332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814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检索/执行 Rails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646F6-4D61-4499-9C02-7F664740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用户自集成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3869D-A54C-4590-A2F8-E59F6B19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Palo Alto Prisma 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C0B976-02C7-408D-B1C7-893DCC2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338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安全平台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8B1DC-445F-43BB-9686-7130616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338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55D31-9853-4EC7-9844-5AD60B4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1338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Agent / MCP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6507B5-1BBE-4A4C-A5DE-35E4DEC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38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威胁情报/红队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7B83C6-CEA7-4357-AB71-9BE00E6F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Cisco AI Defense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057A0-46A1-4EDF-A571-D338304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安全平台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9414D4-3EA2-4093-B741-81B35D5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89660-2FFC-4D2D-8E49-A8C3BFB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Agent / MCP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222C7E-0470-4F48-884A-7095C34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863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发现/验证/供应链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199303-5463-43F7-B0F3-3FDE191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GuardLLM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8D56E8-7A6B-443F-BD40-19A9002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私有软件网关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9A46B3-038C-429A-8A93-1E51C8AA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87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代码已实现*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8064F1-6DE9-4E16-BE36-B41D2BAC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387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RAG + Action Firewall*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1C22B0-39DE-496B-AB5F-7FC7171D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387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签名策略/证据/资源*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4F7DF7-54B1-4B05-9A30-2611FFC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* GuardLLM 表示仓库能力状态，仍需目标环境验收。对比基于官方公开资料，不构成性能排名。</a:t>
            </a:r>
          </a:p>
        </p:txBody>
      </p:sp>
    </p:spTree>
    <p:extLst>
      <p:ext uri="{BB962C8B-B14F-4D97-AF65-F5344CB8AC3E}">
        <p14:creationId xmlns:p14="http://schemas.microsoft.com/office/powerpoint/2010/main" val="1964557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48E53-681E-4AA4-9D16-F8BF9AA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竞争优势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9C51-418F-499B-BA76-7124B11D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竞争优势来自架构一致性，不来自单点功能堆叠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561B1-92AE-455F-8E8C-7031FA1D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6A24-6208-4A97-BE2D-DC2FD1C8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139CD-3F2E-463B-A9FB-F6D90C8D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B35BF-4819-4D66-A801-6838FBC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38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私有化与数据主权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FA19C-CF1B-46BE-A15B-8D93EC7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支持内网/离线，脱敏和出站边界可控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035E3-236E-4DD5-A2AD-BA8BDF49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C8FC1-C851-415A-8831-06E2F39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模型与厂商中立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21308-7B9E-4F78-A6A2-C195E87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统一 Guard API 与策略语义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EF697-79C9-4DB0-A8EE-15BCE935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C785F-1CB3-45EF-B138-41D52BE0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内容延伸到行动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D3EF1-683F-466E-B1E1-6F1918E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RAG 信任门 + Agent Action Firewall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CD417-A3A2-4F93-ADB9-E5D017A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10C24-5F31-4038-8E42-19B3EE6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策略资源证据一体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80665-52F0-482F-8C06-19D509F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Bundle 固定检测器、Tokenizer、配额和失败策略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11D10-3161-4832-8E5C-9AC1C6F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D8C17-20BA-4A5E-A389-66FACAD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精细抗 Guard 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9339C-8674-4858-A09D-ABABC399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多作用域、全生命周期、幂等与公平调度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6FF27-A12D-4E0B-AC1C-03562CCE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609600" cy="990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B9A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013A7-6BFA-47BD-B78B-518C638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可审计、可回滚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6794F-1A00-4FF6-9BD1-623DAE85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196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首次证据、独立审批、影子/灰度/上一版本回滚</a:t>
            </a:r>
          </a:p>
        </p:txBody>
      </p:sp>
    </p:spTree>
    <p:extLst>
      <p:ext uri="{BB962C8B-B14F-4D97-AF65-F5344CB8AC3E}">
        <p14:creationId xmlns:p14="http://schemas.microsoft.com/office/powerpoint/2010/main" val="11151475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85F92-D571-4204-A506-BCBBA1A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当前状态与证据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DFE6B-1C59-4784-AD9B-03FECA6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软件核心已成基线，产品化结论仍要过现场证据门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4DFC4-5734-4D5C-9359-E7D6688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53777-9844-46C3-B70C-1D57E0C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5619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86fc1dd2764d4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A253E-697B-4373-9DDF-B5556502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8577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BD7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1D7E8-05AA-499B-B356-80498DA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当前可复核代码证据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8495D-3304-4992-A218-1873C76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100 个测试文件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396 项自动化测试通过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80 个 Next.js 路由构建通过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13 个统一工作包可机器核对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5 类未经批准的对外声明被门禁阻止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968CA-B41F-4A75-9AC7-0F523BE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3838"/>
                </a:solidFill>
                <a:latin typeface="Microsoft YaHei"/>
                <a:ea typeface="Microsoft YaHei"/>
                <a:cs typeface="Microsoft YaHei"/>
              </a:rPr>
              <a:t>不等同于：盲测效果、目标性能、国产化认证、外部联调或网络一体机验收。</a:t>
            </a:r>
          </a:p>
        </p:txBody>
      </p:sp>
    </p:spTree>
    <p:extLst>
      <p:ext uri="{BB962C8B-B14F-4D97-AF65-F5344CB8AC3E}">
        <p14:creationId xmlns:p14="http://schemas.microsoft.com/office/powerpoint/2010/main" val="1464160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257EF-99D5-4C3D-A62B-C6DCA362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3A9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FBD2-F435-4158-B5AB-0FB429D3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用六个阶段把代码能力转化为生产能力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0276A-CD71-4BCE-AC29-650B769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1F69-1C92-49FB-8BD9-BCA27C9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B5BD1-A921-494B-9EDC-19DC8CF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E1162-E1E5-4013-A38B-B20B101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范围冻结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DF1C2-1B01-4731-B61A-7537A0C2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SKU / 模型 / 数据 / 环境 / 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77D18-F17F-4C84-9CBB-F2CD9D0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4D23A-779A-4AFA-8FBB-7FC0DB2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A575B-F7F8-410C-92A8-624030D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核心护栏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CE104-117A-4A37-BED5-32F2736E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Guard / 策略 / API / 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B7826-D5D4-4601-9C3A-488FFF3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4DAA3-9A4C-41EC-8DFB-85DB8B3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C02C0-854B-433C-B716-CF34B28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RAG +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20DEC-547F-4DE4-94E6-D0C1268F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来源 / ACL / 工具授权 / Permit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105CF-9EBE-4609-876B-B409BCA5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11D4B-75AD-4B04-8F09-F9C7CED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F3DBE-8DC4-4674-A75E-035F6F0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运营集成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11ACB-A8E0-43A8-BFC3-E4B2477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事件 / IAM / SIEM/TONE / 留存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DCA24-DBCF-4C4D-BB46-869379C4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CACF9-4B4C-45FB-818D-0C52ED12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8BE1C-5C16-443D-B169-E7C35A0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效果与性能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5DBCD-AE78-4346-8E34-0BBFE9FF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盲测 / 长上下文 / 并发 / 信创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3DDBA-6003-43BA-9DB7-8DA9283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8595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F0AF0-13AB-4B57-B286-D884B11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3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CCC06-131E-4954-AFDB-A2161CD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0"/>
                </a:solidFill>
                <a:latin typeface="Microsoft YaHei"/>
                <a:ea typeface="Microsoft YaHei"/>
                <a:cs typeface="Microsoft YaHei"/>
              </a:rPr>
              <a:t>生产发布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D48B3-0DD9-4979-84D6-33B32DA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527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影子 / 灰度 / 72h / 故障 / DR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C56FD-88B9-44AC-B737-1C6C4E5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9E15A-2E57-45CA-93B8-E2B1E2B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FD6D4"/>
                </a:solidFill>
                <a:latin typeface="Microsoft YaHei"/>
                <a:ea typeface="Microsoft YaHei"/>
                <a:cs typeface="Microsoft YaHei"/>
              </a:rPr>
              <a:t>建议决策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D3CDE-74A7-45D7-A953-2632C91F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529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先选择 1 个高价值业务、1 个 RAG 和 1 个 Agent 完成 Version A POC；冻结模型/Tokenizer、数据和指标；用签名证据通过后再进入生产灰度。</a:t>
            </a:r>
          </a:p>
        </p:txBody>
      </p:sp>
    </p:spTree>
    <p:extLst>
      <p:ext uri="{BB962C8B-B14F-4D97-AF65-F5344CB8AC3E}">
        <p14:creationId xmlns:p14="http://schemas.microsoft.com/office/powerpoint/2010/main" val="1561290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2026-09-03T10:28:51.6670000Z</dcterms:created>
  <dcterms:modified xsi:type="dcterms:W3CDTF">2026-09-03T10:28:51.6670000Z</dcterms:modified>
</coreProperties>
</file>